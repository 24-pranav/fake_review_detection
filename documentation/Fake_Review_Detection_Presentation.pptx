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22"/>
  </p:notesMasterIdLst>
  <p:sldIdLst>
    <p:sldId id="256" r:id="rId2"/>
    <p:sldId id="271" r:id="rId3"/>
    <p:sldId id="272" r:id="rId4"/>
    <p:sldId id="257" r:id="rId5"/>
    <p:sldId id="258" r:id="rId6"/>
    <p:sldId id="259" r:id="rId7"/>
    <p:sldId id="260" r:id="rId8"/>
    <p:sldId id="273" r:id="rId9"/>
    <p:sldId id="261" r:id="rId10"/>
    <p:sldId id="264" r:id="rId11"/>
    <p:sldId id="265" r:id="rId12"/>
    <p:sldId id="266" r:id="rId13"/>
    <p:sldId id="267" r:id="rId14"/>
    <p:sldId id="274" r:id="rId15"/>
    <p:sldId id="268" r:id="rId16"/>
    <p:sldId id="269" r:id="rId17"/>
    <p:sldId id="275" r:id="rId18"/>
    <p:sldId id="270" r:id="rId19"/>
    <p:sldId id="276" r:id="rId20"/>
    <p:sldId id="27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69F3A-069D-4F4F-A66B-77293384DAC1}" type="datetimeFigureOut">
              <a:rPr lang="en-US" smtClean="0"/>
              <a:t>4/1/2026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00F3DB-B28D-42F6-9A26-10DBAC4BEA59}" type="slidenum">
              <a:rPr lang="en-US" smtClean="0"/>
              <a:t>‹#›</a:t>
            </a:fld>
            <a:endParaRPr lang="en-US"/>
          </a:p>
        </p:txBody>
      </p:sp>
    </p:spTree>
    <p:extLst>
      <p:ext uri="{BB962C8B-B14F-4D97-AF65-F5344CB8AC3E}">
        <p14:creationId xmlns:p14="http://schemas.microsoft.com/office/powerpoint/2010/main" val="206298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800F3DB-B28D-42F6-9A26-10DBAC4BEA59}" type="slidenum">
              <a:rPr lang="en-US" smtClean="0"/>
              <a:t>6</a:t>
            </a:fld>
            <a:endParaRPr lang="en-US"/>
          </a:p>
        </p:txBody>
      </p:sp>
    </p:spTree>
    <p:extLst>
      <p:ext uri="{BB962C8B-B14F-4D97-AF65-F5344CB8AC3E}">
        <p14:creationId xmlns:p14="http://schemas.microsoft.com/office/powerpoint/2010/main" val="883892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800F3DB-B28D-42F6-9A26-10DBAC4BEA59}" type="slidenum">
              <a:rPr lang="en-US" smtClean="0"/>
              <a:t>11</a:t>
            </a:fld>
            <a:endParaRPr lang="en-US"/>
          </a:p>
        </p:txBody>
      </p:sp>
    </p:spTree>
    <p:extLst>
      <p:ext uri="{BB962C8B-B14F-4D97-AF65-F5344CB8AC3E}">
        <p14:creationId xmlns:p14="http://schemas.microsoft.com/office/powerpoint/2010/main" val="480598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75593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4762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9037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0490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34449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72658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89222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61475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30243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07186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824815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12395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98013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39158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57232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76412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64964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4/1/2026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1342449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FakeGuard</a:t>
            </a:r>
            <a:r>
              <a:rPr lang="en-US" dirty="0"/>
              <a:t> AI — Fake Review Detection System</a:t>
            </a:r>
            <a:endParaRPr dirty="0"/>
          </a:p>
        </p:txBody>
      </p:sp>
      <p:sp>
        <p:nvSpPr>
          <p:cNvPr id="3" name="Content Placeholder 2"/>
          <p:cNvSpPr>
            <a:spLocks noGrp="1"/>
          </p:cNvSpPr>
          <p:nvPr>
            <p:ph idx="1"/>
          </p:nvPr>
        </p:nvSpPr>
        <p:spPr/>
        <p:txBody>
          <a:bodyPr>
            <a:normAutofit/>
          </a:bodyPr>
          <a:lstStyle/>
          <a:p>
            <a:pPr marL="0" indent="0">
              <a:buNone/>
            </a:pPr>
            <a:r>
              <a:rPr lang="en-US" sz="2400" dirty="0"/>
              <a:t>An Intelligent System for Detecting Fake Reviews using Machine Learning, Deep Learning, and Explainable AI</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4" name="Rectangle 1"/>
          <p:cNvSpPr>
            <a:spLocks noGrp="1" noChangeArrowheads="1"/>
          </p:cNvSpPr>
          <p:nvPr>
            <p:ph idx="1"/>
          </p:nvPr>
        </p:nvSpPr>
        <p:spPr bwMode="auto">
          <a:xfrm>
            <a:off x="551934" y="2001534"/>
            <a:ext cx="4825219"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
            </a:pPr>
            <a:r>
              <a:rPr lang="en-US" dirty="0">
                <a:latin typeface="Century Gothic (Body)"/>
                <a:cs typeface="Arial" panose="020B0604020202020204" pitchFamily="34" charset="0"/>
              </a:rPr>
              <a:t>Introduction </a:t>
            </a:r>
          </a:p>
          <a:p>
            <a:pPr>
              <a:buFont typeface="Wingdings" panose="05000000000000000000" pitchFamily="2" charset="2"/>
              <a:buChar char="§"/>
            </a:pPr>
            <a:r>
              <a:rPr lang="en-US" dirty="0">
                <a:latin typeface="Century Gothic (Body)"/>
                <a:cs typeface="Arial" panose="020B0604020202020204" pitchFamily="34" charset="0"/>
              </a:rPr>
              <a:t>Problem Statement </a:t>
            </a:r>
          </a:p>
          <a:p>
            <a:pPr>
              <a:buFont typeface="Wingdings" panose="05000000000000000000" pitchFamily="2" charset="2"/>
              <a:buChar char="§"/>
            </a:pPr>
            <a:r>
              <a:rPr lang="en-US" dirty="0">
                <a:latin typeface="Century Gothic (Body)"/>
                <a:cs typeface="Arial" panose="020B0604020202020204" pitchFamily="34" charset="0"/>
              </a:rPr>
              <a:t>Objectives </a:t>
            </a:r>
          </a:p>
          <a:p>
            <a:pPr>
              <a:buFont typeface="Wingdings" panose="05000000000000000000" pitchFamily="2" charset="2"/>
              <a:buChar char="§"/>
            </a:pPr>
            <a:r>
              <a:rPr lang="en-US" dirty="0">
                <a:latin typeface="Century Gothic (Body)"/>
                <a:cs typeface="Arial" panose="020B0604020202020204" pitchFamily="34" charset="0"/>
              </a:rPr>
              <a:t>Dataset Description </a:t>
            </a:r>
          </a:p>
          <a:p>
            <a:pPr>
              <a:buFont typeface="Wingdings" panose="05000000000000000000" pitchFamily="2" charset="2"/>
              <a:buChar char="§"/>
            </a:pPr>
            <a:r>
              <a:rPr lang="en-US" dirty="0">
                <a:latin typeface="Century Gothic (Body)"/>
                <a:cs typeface="Arial" panose="020B0604020202020204" pitchFamily="34" charset="0"/>
              </a:rPr>
              <a:t>Methodology </a:t>
            </a:r>
          </a:p>
          <a:p>
            <a:pPr>
              <a:buFont typeface="Wingdings" panose="05000000000000000000" pitchFamily="2" charset="2"/>
              <a:buChar char="§"/>
            </a:pPr>
            <a:r>
              <a:rPr lang="en-US" dirty="0">
                <a:latin typeface="Century Gothic (Body)"/>
                <a:cs typeface="Arial" panose="020B0604020202020204" pitchFamily="34" charset="0"/>
              </a:rPr>
              <a:t>Feature Engineering </a:t>
            </a:r>
          </a:p>
          <a:p>
            <a:pPr>
              <a:buFont typeface="Wingdings" panose="05000000000000000000" pitchFamily="2" charset="2"/>
              <a:buChar char="§"/>
            </a:pPr>
            <a:r>
              <a:rPr lang="en-US" dirty="0">
                <a:latin typeface="Century Gothic (Body)"/>
                <a:cs typeface="Arial" panose="020B0604020202020204" pitchFamily="34" charset="0"/>
              </a:rPr>
              <a:t>Model Development </a:t>
            </a:r>
            <a:endParaRPr lang="en-US" dirty="0" smtClean="0">
              <a:latin typeface="Century Gothic (Body)"/>
              <a:cs typeface="Arial" panose="020B0604020202020204" pitchFamily="34" charset="0"/>
            </a:endParaRPr>
          </a:p>
          <a:p>
            <a:pPr>
              <a:buFont typeface="Wingdings" panose="05000000000000000000" pitchFamily="2" charset="2"/>
              <a:buChar char="§"/>
            </a:pPr>
            <a:r>
              <a:rPr lang="en-US" dirty="0">
                <a:latin typeface="Century Gothic (Body)"/>
                <a:cs typeface="Arial" panose="020B0604020202020204" pitchFamily="34" charset="0"/>
              </a:rPr>
              <a:t>Evaluation </a:t>
            </a:r>
          </a:p>
          <a:p>
            <a:pPr>
              <a:buFont typeface="Wingdings" panose="05000000000000000000" pitchFamily="2" charset="2"/>
              <a:buChar char="§"/>
            </a:pPr>
            <a:r>
              <a:rPr lang="en-US" dirty="0">
                <a:latin typeface="Century Gothic (Body)"/>
                <a:cs typeface="Arial" panose="020B0604020202020204" pitchFamily="34" charset="0"/>
              </a:rPr>
              <a:t>Architecture </a:t>
            </a:r>
          </a:p>
          <a:p>
            <a:pPr>
              <a:buFont typeface="Wingdings" panose="05000000000000000000" pitchFamily="2" charset="2"/>
              <a:buChar char="§"/>
            </a:pPr>
            <a:r>
              <a:rPr lang="en-US" dirty="0">
                <a:latin typeface="Century Gothic (Body)"/>
                <a:cs typeface="Arial" panose="020B0604020202020204" pitchFamily="34" charset="0"/>
              </a:rPr>
              <a:t>Results &amp; Insights </a:t>
            </a:r>
          </a:p>
          <a:p>
            <a:pPr>
              <a:buFont typeface="Wingdings" panose="05000000000000000000" pitchFamily="2" charset="2"/>
              <a:buChar char="§"/>
            </a:pPr>
            <a:r>
              <a:rPr lang="en-US" dirty="0">
                <a:latin typeface="Century Gothic (Body)"/>
                <a:cs typeface="Arial" panose="020B0604020202020204" pitchFamily="34" charset="0"/>
              </a:rPr>
              <a:t>Conclusion </a:t>
            </a:r>
          </a:p>
          <a:p>
            <a:pPr>
              <a:buFont typeface="Wingdings" panose="05000000000000000000" pitchFamily="2" charset="2"/>
              <a:buChar char="§"/>
            </a:pPr>
            <a:r>
              <a:rPr lang="en-US" dirty="0">
                <a:latin typeface="Century Gothic (Body)"/>
                <a:cs typeface="Arial" panose="020B0604020202020204" pitchFamily="34" charset="0"/>
              </a:rPr>
              <a:t>References </a:t>
            </a:r>
          </a:p>
          <a:p>
            <a:pPr>
              <a:buFont typeface="Wingdings" panose="05000000000000000000" pitchFamily="2" charset="2"/>
              <a:buChar char="§"/>
            </a:pPr>
            <a:endParaRPr lang="en-US" dirty="0">
              <a:latin typeface="Century Gothic (Body)"/>
              <a:cs typeface="Arial" panose="020B0604020202020204" pitchFamily="34" charset="0"/>
            </a:endParaRPr>
          </a:p>
        </p:txBody>
      </p:sp>
    </p:spTree>
    <p:extLst>
      <p:ext uri="{BB962C8B-B14F-4D97-AF65-F5344CB8AC3E}">
        <p14:creationId xmlns:p14="http://schemas.microsoft.com/office/powerpoint/2010/main" val="6153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543027" y="2673927"/>
            <a:ext cx="8057945" cy="3530600"/>
          </a:xfrm>
        </p:spPr>
        <p:txBody>
          <a:bodyPr>
            <a:normAutofit/>
          </a:bodyPr>
          <a:lstStyle/>
          <a:p>
            <a:pPr algn="just"/>
            <a:r>
              <a:rPr lang="en-US" dirty="0"/>
              <a:t>Online platforms depend on user </a:t>
            </a:r>
            <a:r>
              <a:rPr lang="en-US" dirty="0" smtClean="0"/>
              <a:t>reviews</a:t>
            </a:r>
          </a:p>
          <a:p>
            <a:pPr algn="just"/>
            <a:r>
              <a:rPr lang="en-US" dirty="0"/>
              <a:t>Fake reviews reduce trust and </a:t>
            </a:r>
            <a:r>
              <a:rPr lang="en-US" dirty="0" smtClean="0"/>
              <a:t>credibility</a:t>
            </a:r>
          </a:p>
          <a:p>
            <a:pPr algn="just"/>
            <a:r>
              <a:rPr lang="en-US" dirty="0"/>
              <a:t>Difficult to distinguish fake vs genuine </a:t>
            </a:r>
            <a:r>
              <a:rPr lang="en-US" dirty="0" smtClean="0"/>
              <a:t>reviews</a:t>
            </a:r>
          </a:p>
          <a:p>
            <a:pPr algn="just"/>
            <a:r>
              <a:rPr lang="en-US" dirty="0"/>
              <a:t>Need for intelligent detection </a:t>
            </a:r>
            <a:r>
              <a:rPr lang="en-US" dirty="0" smtClean="0"/>
              <a:t>system</a:t>
            </a:r>
          </a:p>
          <a:p>
            <a:pPr algn="just"/>
            <a:r>
              <a:rPr lang="en-US" dirty="0"/>
              <a:t>Uses NLP, ML, DL, and Explainable AI</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1572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a:xfrm>
            <a:off x="561500" y="2738580"/>
            <a:ext cx="8150309" cy="4290291"/>
          </a:xfrm>
        </p:spPr>
        <p:txBody>
          <a:bodyPr>
            <a:normAutofit/>
          </a:bodyPr>
          <a:lstStyle/>
          <a:p>
            <a:r>
              <a:rPr lang="en-US" dirty="0"/>
              <a:t>Fake reviews manipulate product ratings </a:t>
            </a:r>
          </a:p>
          <a:p>
            <a:r>
              <a:rPr lang="en-US" dirty="0"/>
              <a:t>Mislead users and affect decisions </a:t>
            </a:r>
          </a:p>
          <a:p>
            <a:r>
              <a:rPr lang="en-US" dirty="0"/>
              <a:t>Hard to detect using simple methods </a:t>
            </a:r>
          </a:p>
          <a:p>
            <a:r>
              <a:rPr lang="en-US" dirty="0"/>
              <a:t>Requires automated and intelligent system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a:xfrm>
            <a:off x="630773" y="2489200"/>
            <a:ext cx="7882454" cy="3530600"/>
          </a:xfrm>
        </p:spPr>
        <p:txBody>
          <a:bodyPr>
            <a:normAutofit/>
          </a:bodyPr>
          <a:lstStyle/>
          <a:p>
            <a:r>
              <a:rPr lang="en-US" dirty="0"/>
              <a:t>Detect fake and genuine </a:t>
            </a:r>
            <a:r>
              <a:rPr lang="en-US" dirty="0" smtClean="0"/>
              <a:t>reviews</a:t>
            </a:r>
          </a:p>
          <a:p>
            <a:r>
              <a:rPr lang="en-US" dirty="0"/>
              <a:t>Apply NLP techniques for text </a:t>
            </a:r>
            <a:r>
              <a:rPr lang="en-US" dirty="0" smtClean="0"/>
              <a:t>analysis</a:t>
            </a:r>
          </a:p>
          <a:p>
            <a:r>
              <a:rPr lang="en-US" dirty="0"/>
              <a:t>Extract textual, sentiment, behavioral </a:t>
            </a:r>
            <a:r>
              <a:rPr lang="en-US" dirty="0" smtClean="0"/>
              <a:t>features</a:t>
            </a:r>
          </a:p>
          <a:p>
            <a:r>
              <a:rPr lang="fr-FR" dirty="0" err="1"/>
              <a:t>Implement</a:t>
            </a:r>
            <a:r>
              <a:rPr lang="fr-FR" dirty="0"/>
              <a:t> ML </a:t>
            </a:r>
            <a:r>
              <a:rPr lang="fr-FR" dirty="0" err="1"/>
              <a:t>models</a:t>
            </a:r>
            <a:r>
              <a:rPr lang="fr-FR" dirty="0"/>
              <a:t> (LR, SVM, RF</a:t>
            </a:r>
            <a:r>
              <a:rPr lang="fr-FR" dirty="0" smtClean="0"/>
              <a:t>)</a:t>
            </a:r>
          </a:p>
          <a:p>
            <a:r>
              <a:rPr lang="en-US" dirty="0"/>
              <a:t>Use LSTM for contextual </a:t>
            </a:r>
            <a:r>
              <a:rPr lang="en-US" dirty="0" smtClean="0"/>
              <a:t>understanding</a:t>
            </a:r>
          </a:p>
          <a:p>
            <a:r>
              <a:rPr lang="en-US" dirty="0"/>
              <a:t>Apply SHAP for </a:t>
            </a:r>
            <a:r>
              <a:rPr lang="en-US" dirty="0" err="1"/>
              <a:t>explainability</a:t>
            </a:r>
            <a:endParaRPr lang="en-US" dirty="0">
              <a:latin typeface="Arial" panose="020B0604020202020204" pitchFamily="34" charset="0"/>
              <a:cs typeface="Arial" panose="020B0604020202020204" pitchFamily="34" charset="0"/>
            </a:endParaRPr>
          </a:p>
        </p:txBody>
      </p:sp>
      <p:sp>
        <p:nvSpPr>
          <p:cNvPr id="5" name="Rectangle 2"/>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a:xfrm>
            <a:off x="578053" y="2662382"/>
            <a:ext cx="8057947" cy="3530600"/>
          </a:xfrm>
        </p:spPr>
        <p:txBody>
          <a:bodyPr>
            <a:normAutofit/>
          </a:bodyPr>
          <a:lstStyle/>
          <a:p>
            <a:pPr algn="just"/>
            <a:r>
              <a:rPr lang="en-US" dirty="0"/>
              <a:t>Synthetic dataset simulating real-world </a:t>
            </a:r>
            <a:r>
              <a:rPr lang="en-US" dirty="0" smtClean="0"/>
              <a:t>reviews</a:t>
            </a:r>
          </a:p>
          <a:p>
            <a:pPr algn="just"/>
            <a:r>
              <a:rPr lang="en-US" dirty="0"/>
              <a:t>Contains both fake and genuine </a:t>
            </a:r>
            <a:r>
              <a:rPr lang="en-US" dirty="0" smtClean="0"/>
              <a:t>reviews</a:t>
            </a:r>
          </a:p>
          <a:p>
            <a:pPr algn="just"/>
            <a:r>
              <a:rPr lang="en-US" dirty="0"/>
              <a:t>Includes structured + unstructured </a:t>
            </a:r>
            <a:r>
              <a:rPr lang="en-US" dirty="0" smtClean="0"/>
              <a:t>data</a:t>
            </a:r>
          </a:p>
          <a:p>
            <a:pPr algn="just"/>
            <a:r>
              <a:rPr lang="en-US" dirty="0"/>
              <a:t>Enables better control and feature design</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 Attributes</a:t>
            </a:r>
            <a:endParaRPr dirty="0"/>
          </a:p>
        </p:txBody>
      </p:sp>
      <p:sp>
        <p:nvSpPr>
          <p:cNvPr id="3" name="Content Placeholder 2"/>
          <p:cNvSpPr>
            <a:spLocks noGrp="1"/>
          </p:cNvSpPr>
          <p:nvPr>
            <p:ph idx="1"/>
          </p:nvPr>
        </p:nvSpPr>
        <p:spPr>
          <a:xfrm>
            <a:off x="559581" y="2489200"/>
            <a:ext cx="8048709" cy="3530600"/>
          </a:xfrm>
        </p:spPr>
        <p:txBody>
          <a:bodyPr/>
          <a:lstStyle/>
          <a:p>
            <a:r>
              <a:rPr lang="en-US" b="1" dirty="0">
                <a:latin typeface="Century Gothic (Body)"/>
                <a:cs typeface="Arial" panose="020B0604020202020204" pitchFamily="34" charset="0"/>
              </a:rPr>
              <a:t>Review Text</a:t>
            </a:r>
            <a:r>
              <a:rPr lang="en-US" dirty="0">
                <a:latin typeface="Century Gothic (Body)"/>
                <a:cs typeface="Arial" panose="020B0604020202020204" pitchFamily="34" charset="0"/>
              </a:rPr>
              <a:t> – Main textual content of the review </a:t>
            </a:r>
          </a:p>
          <a:p>
            <a:r>
              <a:rPr lang="en-US" b="1" dirty="0">
                <a:latin typeface="Century Gothic (Body)"/>
                <a:cs typeface="Arial" panose="020B0604020202020204" pitchFamily="34" charset="0"/>
              </a:rPr>
              <a:t>Label</a:t>
            </a:r>
            <a:r>
              <a:rPr lang="en-US" dirty="0">
                <a:latin typeface="Century Gothic (Body)"/>
                <a:cs typeface="Arial" panose="020B0604020202020204" pitchFamily="34" charset="0"/>
              </a:rPr>
              <a:t> – Indicates whether review is Fake (1) or Genuine (0) </a:t>
            </a:r>
          </a:p>
          <a:p>
            <a:r>
              <a:rPr lang="en-US" b="1" dirty="0">
                <a:latin typeface="Century Gothic (Body)"/>
                <a:cs typeface="Arial" panose="020B0604020202020204" pitchFamily="34" charset="0"/>
              </a:rPr>
              <a:t>Rating</a:t>
            </a:r>
            <a:r>
              <a:rPr lang="en-US" dirty="0">
                <a:latin typeface="Century Gothic (Body)"/>
                <a:cs typeface="Arial" panose="020B0604020202020204" pitchFamily="34" charset="0"/>
              </a:rPr>
              <a:t> – Numerical value (1 to 5 stars) </a:t>
            </a:r>
          </a:p>
          <a:p>
            <a:r>
              <a:rPr lang="en-US" b="1" dirty="0">
                <a:latin typeface="Century Gothic (Body)"/>
                <a:cs typeface="Arial" panose="020B0604020202020204" pitchFamily="34" charset="0"/>
              </a:rPr>
              <a:t>Reviewer ID</a:t>
            </a:r>
            <a:r>
              <a:rPr lang="en-US" dirty="0">
                <a:latin typeface="Century Gothic (Body)"/>
                <a:cs typeface="Arial" panose="020B0604020202020204" pitchFamily="34" charset="0"/>
              </a:rPr>
              <a:t> – Unique identifier for each user </a:t>
            </a:r>
          </a:p>
          <a:p>
            <a:r>
              <a:rPr lang="en-US" b="1" dirty="0">
                <a:latin typeface="Century Gothic (Body)"/>
                <a:cs typeface="Arial" panose="020B0604020202020204" pitchFamily="34" charset="0"/>
              </a:rPr>
              <a:t>Timestamp</a:t>
            </a:r>
            <a:r>
              <a:rPr lang="en-US" dirty="0">
                <a:latin typeface="Century Gothic (Body)"/>
                <a:cs typeface="Arial" panose="020B0604020202020204" pitchFamily="34" charset="0"/>
              </a:rPr>
              <a:t> – Time when the review was posted </a:t>
            </a:r>
          </a:p>
          <a:p>
            <a:pPr marL="0" indent="0">
              <a:buNone/>
            </a:pPr>
            <a:r>
              <a:rPr lang="en-US" dirty="0">
                <a:latin typeface="Century Gothic (Body)"/>
                <a:cs typeface="Arial" panose="020B0604020202020204" pitchFamily="34" charset="0"/>
              </a:rPr>
              <a:t>These attributes help in analyzing both </a:t>
            </a:r>
            <a:r>
              <a:rPr lang="en-US" b="1" dirty="0">
                <a:latin typeface="Century Gothic (Body)"/>
                <a:cs typeface="Arial" panose="020B0604020202020204" pitchFamily="34" charset="0"/>
              </a:rPr>
              <a:t>content-based and behavior-based patterns</a:t>
            </a:r>
            <a:r>
              <a:rPr lang="en-US" dirty="0">
                <a:latin typeface="Century Gothic (Body)"/>
                <a:cs typeface="Arial" panose="020B0604020202020204" pitchFamily="34" charset="0"/>
              </a:rPr>
              <a:t> in reviews.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a:t>
            </a:r>
            <a:endParaRPr lang="en-US" dirty="0"/>
          </a:p>
        </p:txBody>
      </p:sp>
      <p:sp>
        <p:nvSpPr>
          <p:cNvPr id="3" name="Content Placeholder 2"/>
          <p:cNvSpPr>
            <a:spLocks noGrp="1"/>
          </p:cNvSpPr>
          <p:nvPr>
            <p:ph idx="1"/>
          </p:nvPr>
        </p:nvSpPr>
        <p:spPr>
          <a:xfrm>
            <a:off x="554182" y="2489200"/>
            <a:ext cx="8091054" cy="3530600"/>
          </a:xfrm>
        </p:spPr>
        <p:txBody>
          <a:bodyPr/>
          <a:lstStyle/>
          <a:p>
            <a:r>
              <a:rPr lang="en-US" b="1" dirty="0">
                <a:latin typeface="Century Gothic (Body)"/>
                <a:cs typeface="Arial" panose="020B0604020202020204" pitchFamily="34" charset="0"/>
              </a:rPr>
              <a:t>Word Count</a:t>
            </a:r>
            <a:r>
              <a:rPr lang="en-US" dirty="0">
                <a:latin typeface="Century Gothic (Body)"/>
                <a:cs typeface="Arial" panose="020B0604020202020204" pitchFamily="34" charset="0"/>
              </a:rPr>
              <a:t> – Measures length of the review </a:t>
            </a:r>
          </a:p>
          <a:p>
            <a:r>
              <a:rPr lang="en-US" b="1" dirty="0">
                <a:latin typeface="Century Gothic (Body)"/>
                <a:cs typeface="Arial" panose="020B0604020202020204" pitchFamily="34" charset="0"/>
              </a:rPr>
              <a:t>N-grams</a:t>
            </a:r>
            <a:r>
              <a:rPr lang="en-US" dirty="0">
                <a:latin typeface="Century Gothic (Body)"/>
                <a:cs typeface="Arial" panose="020B0604020202020204" pitchFamily="34" charset="0"/>
              </a:rPr>
              <a:t> – Captures sequences of words and writing patterns </a:t>
            </a:r>
          </a:p>
          <a:p>
            <a:r>
              <a:rPr lang="en-US" b="1" dirty="0">
                <a:latin typeface="Century Gothic (Body)"/>
                <a:cs typeface="Arial" panose="020B0604020202020204" pitchFamily="34" charset="0"/>
              </a:rPr>
              <a:t>TF-IDF</a:t>
            </a:r>
            <a:r>
              <a:rPr lang="en-US" dirty="0">
                <a:latin typeface="Century Gothic (Body)"/>
                <a:cs typeface="Arial" panose="020B0604020202020204" pitchFamily="34" charset="0"/>
              </a:rPr>
              <a:t> – Converts text into numerical form based on word importance </a:t>
            </a:r>
            <a:endParaRPr lang="en-US" dirty="0" smtClean="0">
              <a:latin typeface="Century Gothic (Body)"/>
              <a:cs typeface="Arial" panose="020B0604020202020204" pitchFamily="34" charset="0"/>
            </a:endParaRPr>
          </a:p>
          <a:p>
            <a:r>
              <a:rPr lang="en-US" b="1" dirty="0">
                <a:latin typeface="Century Gothic (Body)"/>
                <a:cs typeface="Arial" panose="020B0604020202020204" pitchFamily="34" charset="0"/>
              </a:rPr>
              <a:t>Sentiment Scores</a:t>
            </a:r>
            <a:r>
              <a:rPr lang="en-US" dirty="0">
                <a:latin typeface="Century Gothic (Body)"/>
                <a:cs typeface="Arial" panose="020B0604020202020204" pitchFamily="34" charset="0"/>
              </a:rPr>
              <a:t> using VADER (positive, negative, neutral, compound) </a:t>
            </a:r>
          </a:p>
          <a:p>
            <a:pPr marL="0" indent="0" algn="just">
              <a:buNone/>
            </a:pPr>
            <a:r>
              <a:rPr lang="en-US" dirty="0" smtClean="0">
                <a:latin typeface="Century Gothic (Body)"/>
                <a:cs typeface="Arial" panose="020B0604020202020204" pitchFamily="34" charset="0"/>
              </a:rPr>
              <a:t>These </a:t>
            </a:r>
            <a:r>
              <a:rPr lang="en-US" dirty="0">
                <a:latin typeface="Century Gothic (Body)"/>
                <a:cs typeface="Arial" panose="020B0604020202020204" pitchFamily="34" charset="0"/>
              </a:rPr>
              <a:t>features help in identifying patterns such as repetitive phrases, exaggerated language, and unnatural writing styles commonly found in fake reviews.</a:t>
            </a:r>
          </a:p>
        </p:txBody>
      </p:sp>
    </p:spTree>
    <p:extLst>
      <p:ext uri="{BB962C8B-B14F-4D97-AF65-F5344CB8AC3E}">
        <p14:creationId xmlns:p14="http://schemas.microsoft.com/office/powerpoint/2010/main" val="744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a:xfrm>
            <a:off x="498764" y="2489200"/>
            <a:ext cx="7989454" cy="3530600"/>
          </a:xfrm>
        </p:spPr>
        <p:txBody>
          <a:bodyPr/>
          <a:lstStyle/>
          <a:p>
            <a:pPr algn="just"/>
            <a:r>
              <a:rPr lang="en-US" dirty="0">
                <a:latin typeface="Arial" panose="020B0604020202020204" pitchFamily="34" charset="0"/>
                <a:cs typeface="Arial" panose="020B0604020202020204" pitchFamily="34" charset="0"/>
              </a:rPr>
              <a:t>Removal of noise such as punctuation, special characters, and </a:t>
            </a:r>
            <a:r>
              <a:rPr lang="en-US" dirty="0" err="1">
                <a:latin typeface="Arial" panose="020B0604020202020204" pitchFamily="34" charset="0"/>
                <a:cs typeface="Arial" panose="020B0604020202020204" pitchFamily="34" charset="0"/>
              </a:rPr>
              <a:t>stopwords</a:t>
            </a:r>
            <a:r>
              <a:rPr lang="en-US"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Conversion of text to lowercase for uniformity </a:t>
            </a:r>
          </a:p>
          <a:p>
            <a:pPr algn="just"/>
            <a:r>
              <a:rPr lang="en-US" dirty="0">
                <a:latin typeface="Arial" panose="020B0604020202020204" pitchFamily="34" charset="0"/>
                <a:cs typeface="Arial" panose="020B0604020202020204" pitchFamily="34" charset="0"/>
              </a:rPr>
              <a:t>Tokenization to split text into individual words </a:t>
            </a:r>
          </a:p>
          <a:p>
            <a:pPr algn="just"/>
            <a:r>
              <a:rPr lang="en-US" dirty="0">
                <a:latin typeface="Arial" panose="020B0604020202020204" pitchFamily="34" charset="0"/>
                <a:cs typeface="Arial" panose="020B0604020202020204" pitchFamily="34" charset="0"/>
              </a:rPr>
              <a:t>Lemmatization to reduce words to their base form </a:t>
            </a:r>
          </a:p>
          <a:p>
            <a:pPr algn="just"/>
            <a:r>
              <a:rPr lang="en-US" dirty="0">
                <a:latin typeface="Arial" panose="020B0604020202020204" pitchFamily="34" charset="0"/>
                <a:cs typeface="Arial" panose="020B0604020202020204" pitchFamily="34" charset="0"/>
              </a:rPr>
              <a:t>Handling missing values to ensure data consistency </a:t>
            </a:r>
          </a:p>
          <a:p>
            <a:pPr algn="just"/>
            <a:r>
              <a:rPr lang="en-US" dirty="0">
                <a:latin typeface="Arial" panose="020B0604020202020204" pitchFamily="34" charset="0"/>
                <a:cs typeface="Arial" panose="020B0604020202020204" pitchFamily="34" charset="0"/>
              </a:rPr>
              <a:t>Encoding categorical data into numerical format </a:t>
            </a:r>
          </a:p>
          <a:p>
            <a:pPr marL="0" indent="0" algn="just">
              <a:buNone/>
            </a:pPr>
            <a:r>
              <a:rPr lang="en-US" dirty="0">
                <a:latin typeface="Arial" panose="020B0604020202020204" pitchFamily="34" charset="0"/>
                <a:cs typeface="Arial" panose="020B0604020202020204" pitchFamily="34" charset="0"/>
              </a:rPr>
              <a:t>Preprocessing improves data quality and prepares it for feature extraction and model training.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Features</a:t>
            </a:r>
            <a:endParaRPr dirty="0"/>
          </a:p>
        </p:txBody>
      </p:sp>
      <p:sp>
        <p:nvSpPr>
          <p:cNvPr id="3" name="Content Placeholder 2"/>
          <p:cNvSpPr>
            <a:spLocks noGrp="1"/>
          </p:cNvSpPr>
          <p:nvPr>
            <p:ph idx="1"/>
          </p:nvPr>
        </p:nvSpPr>
        <p:spPr>
          <a:xfrm>
            <a:off x="554183" y="2489200"/>
            <a:ext cx="8109526" cy="3530600"/>
          </a:xfrm>
        </p:spPr>
        <p:txBody>
          <a:bodyPr>
            <a:normAutofit/>
          </a:bodyPr>
          <a:lstStyle/>
          <a:p>
            <a:r>
              <a:rPr lang="en-US" b="1" dirty="0">
                <a:latin typeface="Arial" panose="020B0604020202020204" pitchFamily="34" charset="0"/>
                <a:cs typeface="Arial" panose="020B0604020202020204" pitchFamily="34" charset="0"/>
              </a:rPr>
              <a:t>Review Frequency</a:t>
            </a:r>
            <a:r>
              <a:rPr lang="en-US" dirty="0">
                <a:latin typeface="Arial" panose="020B0604020202020204" pitchFamily="34" charset="0"/>
                <a:cs typeface="Arial" panose="020B0604020202020204" pitchFamily="34" charset="0"/>
              </a:rPr>
              <a:t> – Detects users posting many reviews in a short time </a:t>
            </a:r>
          </a:p>
          <a:p>
            <a:r>
              <a:rPr lang="en-US" b="1" dirty="0">
                <a:latin typeface="Arial" panose="020B0604020202020204" pitchFamily="34" charset="0"/>
                <a:cs typeface="Arial" panose="020B0604020202020204" pitchFamily="34" charset="0"/>
              </a:rPr>
              <a:t>Rating Pattern</a:t>
            </a:r>
            <a:r>
              <a:rPr lang="en-US" dirty="0">
                <a:latin typeface="Arial" panose="020B0604020202020204" pitchFamily="34" charset="0"/>
                <a:cs typeface="Arial" panose="020B0604020202020204" pitchFamily="34" charset="0"/>
              </a:rPr>
              <a:t> – Identifies users giving mostly extreme ratings </a:t>
            </a:r>
          </a:p>
          <a:p>
            <a:r>
              <a:rPr lang="en-US" b="1" dirty="0">
                <a:latin typeface="Arial" panose="020B0604020202020204" pitchFamily="34" charset="0"/>
                <a:cs typeface="Arial" panose="020B0604020202020204" pitchFamily="34" charset="0"/>
              </a:rPr>
              <a:t>Duplicate Reviews</a:t>
            </a:r>
            <a:r>
              <a:rPr lang="en-US" dirty="0">
                <a:latin typeface="Arial" panose="020B0604020202020204" pitchFamily="34" charset="0"/>
                <a:cs typeface="Arial" panose="020B0604020202020204" pitchFamily="34" charset="0"/>
              </a:rPr>
              <a:t> – Detects repeated or similar content </a:t>
            </a:r>
          </a:p>
          <a:p>
            <a:r>
              <a:rPr lang="en-US" b="1" dirty="0">
                <a:latin typeface="Arial" panose="020B0604020202020204" pitchFamily="34" charset="0"/>
                <a:cs typeface="Arial" panose="020B0604020202020204" pitchFamily="34" charset="0"/>
              </a:rPr>
              <a:t>Readability Score</a:t>
            </a:r>
            <a:r>
              <a:rPr lang="en-US" dirty="0">
                <a:latin typeface="Arial" panose="020B0604020202020204" pitchFamily="34" charset="0"/>
                <a:cs typeface="Arial" panose="020B0604020202020204" pitchFamily="34" charset="0"/>
              </a:rPr>
              <a:t> – Identifies unnatural or bot-like text </a:t>
            </a:r>
          </a:p>
          <a:p>
            <a:pPr marL="0" indent="0">
              <a:buNone/>
            </a:pPr>
            <a:r>
              <a:rPr lang="en-US" dirty="0">
                <a:latin typeface="Arial" panose="020B0604020202020204" pitchFamily="34" charset="0"/>
                <a:cs typeface="Arial" panose="020B0604020202020204" pitchFamily="34" charset="0"/>
              </a:rPr>
              <a:t>Behavioral features provide strong indicators of suspicious activity and significantly improve detection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Machine Learning Models</a:t>
            </a:r>
          </a:p>
        </p:txBody>
      </p:sp>
      <p:sp>
        <p:nvSpPr>
          <p:cNvPr id="3" name="Content Placeholder 2"/>
          <p:cNvSpPr>
            <a:spLocks noGrp="1"/>
          </p:cNvSpPr>
          <p:nvPr>
            <p:ph idx="1"/>
          </p:nvPr>
        </p:nvSpPr>
        <p:spPr>
          <a:xfrm>
            <a:off x="526473" y="2489200"/>
            <a:ext cx="8081817" cy="3530600"/>
          </a:xfrm>
        </p:spPr>
        <p:txBody>
          <a:bodyPr/>
          <a:lstStyle/>
          <a:p>
            <a:pPr algn="just"/>
            <a:r>
              <a:rPr lang="en-US" b="1" dirty="0">
                <a:latin typeface="Arial" panose="020B0604020202020204" pitchFamily="34" charset="0"/>
                <a:cs typeface="Arial" panose="020B0604020202020204" pitchFamily="34" charset="0"/>
              </a:rPr>
              <a:t>Logistic Regression</a:t>
            </a:r>
            <a:r>
              <a:rPr lang="en-US" dirty="0">
                <a:latin typeface="Arial" panose="020B0604020202020204" pitchFamily="34" charset="0"/>
                <a:cs typeface="Arial" panose="020B0604020202020204" pitchFamily="34" charset="0"/>
              </a:rPr>
              <a:t> – Simple and effective baseline model </a:t>
            </a:r>
          </a:p>
          <a:p>
            <a:pPr algn="just"/>
            <a:r>
              <a:rPr lang="en-US" b="1" dirty="0">
                <a:latin typeface="Arial" panose="020B0604020202020204" pitchFamily="34" charset="0"/>
                <a:cs typeface="Arial" panose="020B0604020202020204" pitchFamily="34" charset="0"/>
              </a:rPr>
              <a:t>Support Vector Machine (SVM)</a:t>
            </a:r>
            <a:r>
              <a:rPr lang="en-US" dirty="0">
                <a:latin typeface="Arial" panose="020B0604020202020204" pitchFamily="34" charset="0"/>
                <a:cs typeface="Arial" panose="020B0604020202020204" pitchFamily="34" charset="0"/>
              </a:rPr>
              <a:t> – Handles high-dimensional text data efficiently </a:t>
            </a:r>
          </a:p>
          <a:p>
            <a:pPr algn="just"/>
            <a:r>
              <a:rPr lang="en-US" b="1" dirty="0">
                <a:latin typeface="Arial" panose="020B0604020202020204" pitchFamily="34" charset="0"/>
                <a:cs typeface="Arial" panose="020B0604020202020204" pitchFamily="34" charset="0"/>
              </a:rPr>
              <a:t>Random Forest</a:t>
            </a:r>
            <a:r>
              <a:rPr lang="en-US" dirty="0">
                <a:latin typeface="Arial" panose="020B0604020202020204" pitchFamily="34" charset="0"/>
                <a:cs typeface="Arial" panose="020B0604020202020204" pitchFamily="34" charset="0"/>
              </a:rPr>
              <a:t> – Ensemble model that improves accuracy and reduces overfitting </a:t>
            </a:r>
          </a:p>
          <a:p>
            <a:pPr marL="0" indent="0" algn="just">
              <a:buNone/>
            </a:pPr>
            <a:r>
              <a:rPr lang="en-US" dirty="0">
                <a:latin typeface="Arial" panose="020B0604020202020204" pitchFamily="34" charset="0"/>
                <a:cs typeface="Arial" panose="020B0604020202020204" pitchFamily="34" charset="0"/>
              </a:rPr>
              <a:t>These models are trained on extracted features and used to classify reviews as fake or genuine.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Deep Learning </a:t>
            </a:r>
            <a:r>
              <a:rPr dirty="0" smtClean="0"/>
              <a:t>Model</a:t>
            </a:r>
            <a:r>
              <a:rPr lang="en-US" dirty="0"/>
              <a:t>– LSTM</a:t>
            </a:r>
            <a:endParaRPr dirty="0"/>
          </a:p>
        </p:txBody>
      </p:sp>
      <p:sp>
        <p:nvSpPr>
          <p:cNvPr id="3" name="Content Placeholder 2"/>
          <p:cNvSpPr>
            <a:spLocks noGrp="1"/>
          </p:cNvSpPr>
          <p:nvPr>
            <p:ph idx="1"/>
          </p:nvPr>
        </p:nvSpPr>
        <p:spPr>
          <a:xfrm>
            <a:off x="554183" y="2489200"/>
            <a:ext cx="8155708" cy="3530600"/>
          </a:xfrm>
        </p:spPr>
        <p:txBody>
          <a:bodyPr/>
          <a:lstStyle/>
          <a:p>
            <a:pPr algn="just"/>
            <a:r>
              <a:rPr lang="en-US" dirty="0">
                <a:latin typeface="Arial" panose="020B0604020202020204" pitchFamily="34" charset="0"/>
                <a:cs typeface="Arial" panose="020B0604020202020204" pitchFamily="34" charset="0"/>
              </a:rPr>
              <a:t>Uses sequential processing of text data </a:t>
            </a:r>
          </a:p>
          <a:p>
            <a:pPr algn="just"/>
            <a:r>
              <a:rPr lang="en-US" dirty="0">
                <a:latin typeface="Arial" panose="020B0604020202020204" pitchFamily="34" charset="0"/>
                <a:cs typeface="Arial" panose="020B0604020202020204" pitchFamily="34" charset="0"/>
              </a:rPr>
              <a:t>Pipeline: Tokenization → Padding → Embedding → LSTM layers </a:t>
            </a:r>
          </a:p>
          <a:p>
            <a:pPr algn="just"/>
            <a:r>
              <a:rPr lang="en-US" dirty="0">
                <a:latin typeface="Arial" panose="020B0604020202020204" pitchFamily="34" charset="0"/>
                <a:cs typeface="Arial" panose="020B0604020202020204" pitchFamily="34" charset="0"/>
              </a:rPr>
              <a:t>Captures contextual relationships and long-term dependencies </a:t>
            </a:r>
          </a:p>
          <a:p>
            <a:pPr algn="just"/>
            <a:r>
              <a:rPr lang="en-US" dirty="0">
                <a:latin typeface="Arial" panose="020B0604020202020204" pitchFamily="34" charset="0"/>
                <a:cs typeface="Arial" panose="020B0604020202020204" pitchFamily="34" charset="0"/>
              </a:rPr>
              <a:t>Performs better on complex and long reviews </a:t>
            </a:r>
          </a:p>
          <a:p>
            <a:pPr marL="0" indent="0" algn="just">
              <a:buNone/>
            </a:pPr>
            <a:r>
              <a:rPr lang="en-US" dirty="0">
                <a:latin typeface="Arial" panose="020B0604020202020204" pitchFamily="34" charset="0"/>
                <a:cs typeface="Arial" panose="020B0604020202020204" pitchFamily="34" charset="0"/>
              </a:rPr>
              <a:t>LSTM complements machine learning models by improving detection of subtle patterns.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Explainable AI</a:t>
            </a:r>
          </a:p>
        </p:txBody>
      </p:sp>
      <p:sp>
        <p:nvSpPr>
          <p:cNvPr id="3" name="Content Placeholder 2"/>
          <p:cNvSpPr>
            <a:spLocks noGrp="1"/>
          </p:cNvSpPr>
          <p:nvPr>
            <p:ph idx="1"/>
          </p:nvPr>
        </p:nvSpPr>
        <p:spPr>
          <a:xfrm>
            <a:off x="526473" y="2489200"/>
            <a:ext cx="8118763" cy="3530600"/>
          </a:xfrm>
        </p:spPr>
        <p:txBody>
          <a:bodyPr/>
          <a:lstStyle/>
          <a:p>
            <a:pPr algn="just"/>
            <a:r>
              <a:rPr lang="en-US" dirty="0">
                <a:latin typeface="Arial" panose="020B0604020202020204" pitchFamily="34" charset="0"/>
                <a:cs typeface="Arial" panose="020B0604020202020204" pitchFamily="34" charset="0"/>
              </a:rPr>
              <a:t>SHAP (</a:t>
            </a:r>
            <a:r>
              <a:rPr lang="en-US" dirty="0" err="1">
                <a:latin typeface="Arial" panose="020B0604020202020204" pitchFamily="34" charset="0"/>
                <a:cs typeface="Arial" panose="020B0604020202020204" pitchFamily="34" charset="0"/>
              </a:rPr>
              <a:t>SHapley</a:t>
            </a:r>
            <a:r>
              <a:rPr lang="en-US" dirty="0">
                <a:latin typeface="Arial" panose="020B0604020202020204" pitchFamily="34" charset="0"/>
                <a:cs typeface="Arial" panose="020B0604020202020204" pitchFamily="34" charset="0"/>
              </a:rPr>
              <a:t> Additive Explanations) is used for model interpretation </a:t>
            </a:r>
          </a:p>
          <a:p>
            <a:pPr algn="just"/>
            <a:r>
              <a:rPr lang="en-US" dirty="0">
                <a:latin typeface="Arial" panose="020B0604020202020204" pitchFamily="34" charset="0"/>
                <a:cs typeface="Arial" panose="020B0604020202020204" pitchFamily="34" charset="0"/>
              </a:rPr>
              <a:t>Identifies important words/features influencing predictions </a:t>
            </a:r>
          </a:p>
          <a:p>
            <a:pPr algn="just"/>
            <a:r>
              <a:rPr lang="en-US" dirty="0">
                <a:latin typeface="Arial" panose="020B0604020202020204" pitchFamily="34" charset="0"/>
                <a:cs typeface="Arial" panose="020B0604020202020204" pitchFamily="34" charset="0"/>
              </a:rPr>
              <a:t>Provides transparency and improves trust in the system </a:t>
            </a:r>
          </a:p>
          <a:p>
            <a:pPr algn="just"/>
            <a:r>
              <a:rPr lang="en-US" dirty="0">
                <a:latin typeface="Arial" panose="020B0604020202020204" pitchFamily="34" charset="0"/>
                <a:cs typeface="Arial" panose="020B0604020202020204" pitchFamily="34" charset="0"/>
              </a:rPr>
              <a:t>Helps users understand why a review is classified as fake or genuine </a:t>
            </a:r>
          </a:p>
          <a:p>
            <a:pPr marL="0" indent="0" algn="just">
              <a:buNone/>
            </a:pPr>
            <a:r>
              <a:rPr lang="en-US" dirty="0" err="1">
                <a:latin typeface="Arial" panose="020B0604020202020204" pitchFamily="34" charset="0"/>
                <a:cs typeface="Arial" panose="020B0604020202020204" pitchFamily="34" charset="0"/>
              </a:rPr>
              <a:t>Explainability</a:t>
            </a:r>
            <a:r>
              <a:rPr lang="en-US" dirty="0">
                <a:latin typeface="Arial" panose="020B0604020202020204" pitchFamily="34" charset="0"/>
                <a:cs typeface="Arial" panose="020B0604020202020204" pitchFamily="34" charset="0"/>
              </a:rPr>
              <a:t> is essential for real-world AI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Challenges</a:t>
            </a:r>
          </a:p>
        </p:txBody>
      </p:sp>
      <p:sp>
        <p:nvSpPr>
          <p:cNvPr id="3" name="Content Placeholder 2"/>
          <p:cNvSpPr>
            <a:spLocks noGrp="1"/>
          </p:cNvSpPr>
          <p:nvPr>
            <p:ph idx="1"/>
          </p:nvPr>
        </p:nvSpPr>
        <p:spPr>
          <a:xfrm>
            <a:off x="581891" y="2489200"/>
            <a:ext cx="8063345" cy="3530600"/>
          </a:xfrm>
        </p:spPr>
        <p:txBody>
          <a:bodyPr/>
          <a:lstStyle/>
          <a:p>
            <a:pPr algn="just"/>
            <a:r>
              <a:rPr lang="en-US" b="1" dirty="0"/>
              <a:t>Class Imbalance</a:t>
            </a:r>
            <a:r>
              <a:rPr lang="en-US" dirty="0"/>
              <a:t> – Genuine reviews are usually more than fake ones </a:t>
            </a:r>
          </a:p>
          <a:p>
            <a:pPr algn="just"/>
            <a:r>
              <a:rPr lang="en-US" b="1" dirty="0"/>
              <a:t>Noisy Text Data</a:t>
            </a:r>
            <a:r>
              <a:rPr lang="en-US" dirty="0"/>
              <a:t> – Includes </a:t>
            </a:r>
            <a:r>
              <a:rPr lang="en-US" dirty="0" err="1"/>
              <a:t>stopwords</a:t>
            </a:r>
            <a:r>
              <a:rPr lang="en-US" dirty="0"/>
              <a:t>, punctuation, and irrelevant words </a:t>
            </a:r>
          </a:p>
          <a:p>
            <a:pPr algn="just"/>
            <a:r>
              <a:rPr lang="en-US" b="1" dirty="0"/>
              <a:t>Missing Values</a:t>
            </a:r>
            <a:r>
              <a:rPr lang="en-US" dirty="0"/>
              <a:t> – Some fields may be incomplete </a:t>
            </a:r>
          </a:p>
          <a:p>
            <a:pPr algn="just"/>
            <a:r>
              <a:rPr lang="en-US" b="1" dirty="0"/>
              <a:t>Variability</a:t>
            </a:r>
            <a:r>
              <a:rPr lang="en-US" dirty="0"/>
              <a:t> – Different writing styles across users </a:t>
            </a:r>
          </a:p>
          <a:p>
            <a:pPr marL="0" indent="0" algn="just">
              <a:buNone/>
            </a:pPr>
            <a:r>
              <a:rPr lang="en-US" dirty="0"/>
              <a:t>These challenges require proper preprocessing and feature engineering to ensure model accuracy.</a:t>
            </a:r>
          </a:p>
        </p:txBody>
      </p:sp>
    </p:spTree>
    <p:extLst>
      <p:ext uri="{BB962C8B-B14F-4D97-AF65-F5344CB8AC3E}">
        <p14:creationId xmlns:p14="http://schemas.microsoft.com/office/powerpoint/2010/main" val="490314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Evaluation</a:t>
            </a:r>
          </a:p>
        </p:txBody>
      </p:sp>
      <p:sp>
        <p:nvSpPr>
          <p:cNvPr id="3" name="Content Placeholder 2"/>
          <p:cNvSpPr>
            <a:spLocks noGrp="1"/>
          </p:cNvSpPr>
          <p:nvPr>
            <p:ph idx="1"/>
          </p:nvPr>
        </p:nvSpPr>
        <p:spPr>
          <a:xfrm>
            <a:off x="544945" y="2489200"/>
            <a:ext cx="8091055" cy="3530600"/>
          </a:xfrm>
        </p:spPr>
        <p:txBody>
          <a:bodyPr/>
          <a:lstStyle/>
          <a:p>
            <a:pPr algn="just" eaLnBrk="0" fontAlgn="base" hangingPunct="0"/>
            <a:r>
              <a:rPr lang="en-US" dirty="0">
                <a:latin typeface="Arial" panose="020B0604020202020204" pitchFamily="34" charset="0"/>
                <a:cs typeface="Arial" panose="020B0604020202020204" pitchFamily="34" charset="0"/>
              </a:rPr>
              <a:t>Dataset is split into </a:t>
            </a:r>
            <a:r>
              <a:rPr lang="en-US" b="1" dirty="0">
                <a:latin typeface="Arial" panose="020B0604020202020204" pitchFamily="34" charset="0"/>
                <a:cs typeface="Arial" panose="020B0604020202020204" pitchFamily="34" charset="0"/>
              </a:rPr>
              <a:t>training and testing sets (80:20)</a:t>
            </a: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algn="just" eaLnBrk="0" fontAlgn="base" hangingPunct="0"/>
            <a:r>
              <a:rPr lang="en-US" dirty="0">
                <a:latin typeface="Arial" panose="020B0604020202020204" pitchFamily="34" charset="0"/>
                <a:cs typeface="Arial" panose="020B0604020202020204" pitchFamily="34" charset="0"/>
              </a:rPr>
              <a:t>Models are evaluated using: </a:t>
            </a:r>
            <a:endParaRPr lang="en-US" dirty="0">
              <a:latin typeface="Arial" panose="020B0604020202020204" pitchFamily="34" charset="0"/>
              <a:cs typeface="Arial" panose="020B0604020202020204" pitchFamily="34" charset="0"/>
            </a:endParaRPr>
          </a:p>
          <a:p>
            <a:pPr lvl="1" algn="just" eaLnBrk="0" fontAlgn="base" hangingPunct="0">
              <a:buFont typeface="Wingdings" panose="05000000000000000000" pitchFamily="2" charset="2"/>
              <a:buChar char="q"/>
            </a:pPr>
            <a:r>
              <a:rPr lang="en-US" b="1" dirty="0">
                <a:latin typeface="Arial" panose="020B0604020202020204" pitchFamily="34" charset="0"/>
                <a:cs typeface="Arial" panose="020B0604020202020204" pitchFamily="34" charset="0"/>
              </a:rPr>
              <a:t>Accuracy</a:t>
            </a:r>
            <a:r>
              <a:rPr lang="en-US" dirty="0">
                <a:latin typeface="Arial" panose="020B0604020202020204" pitchFamily="34" charset="0"/>
                <a:cs typeface="Arial" panose="020B0604020202020204" pitchFamily="34" charset="0"/>
              </a:rPr>
              <a:t> – overall correctness </a:t>
            </a:r>
            <a:endParaRPr lang="en-US" dirty="0">
              <a:latin typeface="Arial" panose="020B0604020202020204" pitchFamily="34" charset="0"/>
              <a:cs typeface="Arial" panose="020B0604020202020204" pitchFamily="34" charset="0"/>
            </a:endParaRPr>
          </a:p>
          <a:p>
            <a:pPr lvl="1" algn="just" eaLnBrk="0" fontAlgn="base" hangingPunct="0">
              <a:buFont typeface="Wingdings" panose="05000000000000000000" pitchFamily="2" charset="2"/>
              <a:buChar char="q"/>
            </a:pPr>
            <a:r>
              <a:rPr lang="en-US" b="1" dirty="0">
                <a:latin typeface="Arial" panose="020B0604020202020204" pitchFamily="34" charset="0"/>
                <a:cs typeface="Arial" panose="020B0604020202020204" pitchFamily="34" charset="0"/>
              </a:rPr>
              <a:t>Precision</a:t>
            </a:r>
            <a:r>
              <a:rPr lang="en-US" dirty="0">
                <a:latin typeface="Arial" panose="020B0604020202020204" pitchFamily="34" charset="0"/>
                <a:cs typeface="Arial" panose="020B0604020202020204" pitchFamily="34" charset="0"/>
              </a:rPr>
              <a:t> – correctness of positive predictions </a:t>
            </a:r>
            <a:endParaRPr lang="en-US" dirty="0">
              <a:latin typeface="Arial" panose="020B0604020202020204" pitchFamily="34" charset="0"/>
              <a:cs typeface="Arial" panose="020B0604020202020204" pitchFamily="34" charset="0"/>
            </a:endParaRPr>
          </a:p>
          <a:p>
            <a:pPr lvl="1" algn="just" eaLnBrk="0" fontAlgn="base" hangingPunct="0">
              <a:buFont typeface="Wingdings" panose="05000000000000000000" pitchFamily="2" charset="2"/>
              <a:buChar char="q"/>
            </a:pPr>
            <a:r>
              <a:rPr lang="en-US" b="1" dirty="0">
                <a:latin typeface="Arial" panose="020B0604020202020204" pitchFamily="34" charset="0"/>
                <a:cs typeface="Arial" panose="020B0604020202020204" pitchFamily="34" charset="0"/>
              </a:rPr>
              <a:t>Recall</a:t>
            </a:r>
            <a:r>
              <a:rPr lang="en-US" dirty="0">
                <a:latin typeface="Arial" panose="020B0604020202020204" pitchFamily="34" charset="0"/>
                <a:cs typeface="Arial" panose="020B0604020202020204" pitchFamily="34" charset="0"/>
              </a:rPr>
              <a:t> – ability to detect fake reviews </a:t>
            </a:r>
            <a:endParaRPr lang="en-US" dirty="0">
              <a:latin typeface="Arial" panose="020B0604020202020204" pitchFamily="34" charset="0"/>
              <a:cs typeface="Arial" panose="020B0604020202020204" pitchFamily="34" charset="0"/>
            </a:endParaRPr>
          </a:p>
          <a:p>
            <a:pPr lvl="1" algn="just" eaLnBrk="0" fontAlgn="base" hangingPunct="0">
              <a:buFont typeface="Wingdings" panose="05000000000000000000" pitchFamily="2" charset="2"/>
              <a:buChar char="q"/>
            </a:pPr>
            <a:r>
              <a:rPr lang="en-US" b="1" dirty="0">
                <a:latin typeface="Arial" panose="020B0604020202020204" pitchFamily="34" charset="0"/>
                <a:cs typeface="Arial" panose="020B0604020202020204" pitchFamily="34" charset="0"/>
              </a:rPr>
              <a:t>F1-Score</a:t>
            </a:r>
            <a:r>
              <a:rPr lang="en-US" dirty="0">
                <a:latin typeface="Arial" panose="020B0604020202020204" pitchFamily="34" charset="0"/>
                <a:cs typeface="Arial" panose="020B0604020202020204" pitchFamily="34" charset="0"/>
              </a:rPr>
              <a:t> – balance between precision and recall </a:t>
            </a:r>
            <a:endParaRPr lang="en-US" dirty="0">
              <a:latin typeface="Arial" panose="020B0604020202020204" pitchFamily="34" charset="0"/>
              <a:cs typeface="Arial" panose="020B0604020202020204" pitchFamily="34" charset="0"/>
            </a:endParaRPr>
          </a:p>
          <a:p>
            <a:pPr algn="just" eaLnBrk="0" fontAlgn="base" hangingPunct="0"/>
            <a:r>
              <a:rPr lang="en-US" b="1" dirty="0">
                <a:latin typeface="Arial" panose="020B0604020202020204" pitchFamily="34" charset="0"/>
                <a:cs typeface="Arial" panose="020B0604020202020204" pitchFamily="34" charset="0"/>
              </a:rPr>
              <a:t>Confusion Matrix</a:t>
            </a:r>
            <a:r>
              <a:rPr lang="en-US" dirty="0">
                <a:latin typeface="Arial" panose="020B0604020202020204" pitchFamily="34" charset="0"/>
                <a:cs typeface="Arial" panose="020B0604020202020204" pitchFamily="34" charset="0"/>
              </a:rPr>
              <a:t> used to analyze classification errors </a:t>
            </a:r>
            <a:endParaRPr lang="en-US" dirty="0">
              <a:latin typeface="Arial" panose="020B0604020202020204" pitchFamily="34" charset="0"/>
              <a:cs typeface="Arial" panose="020B0604020202020204" pitchFamily="34" charset="0"/>
            </a:endParaRPr>
          </a:p>
          <a:p>
            <a:pPr algn="just" eaLnBrk="0" fontAlgn="base" hangingPunct="0"/>
            <a:r>
              <a:rPr lang="en-US" b="1" dirty="0">
                <a:latin typeface="Arial" panose="020B0604020202020204" pitchFamily="34" charset="0"/>
                <a:cs typeface="Arial" panose="020B0604020202020204" pitchFamily="34" charset="0"/>
              </a:rPr>
              <a:t>Cross-validation</a:t>
            </a:r>
            <a:r>
              <a:rPr lang="en-US" dirty="0">
                <a:latin typeface="Arial" panose="020B0604020202020204" pitchFamily="34" charset="0"/>
                <a:cs typeface="Arial" panose="020B0604020202020204" pitchFamily="34" charset="0"/>
              </a:rPr>
              <a:t> ensures model stability and avoids overfitting </a:t>
            </a:r>
            <a:endParaRPr lang="en-US" dirty="0">
              <a:effectLst/>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pic>
        <p:nvPicPr>
          <p:cNvPr id="4" name="Content Placeholder 3"/>
          <p:cNvPicPr>
            <a:picLocks noGrp="1"/>
          </p:cNvPicPr>
          <p:nvPr>
            <p:ph idx="1"/>
          </p:nvPr>
        </p:nvPicPr>
        <p:blipFill rotWithShape="1">
          <a:blip r:embed="rId2" cstate="print">
            <a:extLst>
              <a:ext uri="{28A0092B-C50C-407E-A947-70E740481C1C}">
                <a14:useLocalDpi xmlns:a14="http://schemas.microsoft.com/office/drawing/2010/main" val="0"/>
              </a:ext>
            </a:extLst>
          </a:blip>
          <a:srcRect l="19129" t="1592" r="17391" b="26087"/>
          <a:stretch/>
        </p:blipFill>
        <p:spPr bwMode="auto">
          <a:xfrm>
            <a:off x="3009267" y="2108386"/>
            <a:ext cx="3262223" cy="4033795"/>
          </a:xfrm>
          <a:prstGeom prst="rect">
            <a:avLst/>
          </a:prstGeom>
          <a:ln>
            <a:noFill/>
          </a:ln>
          <a:extLst>
            <a:ext uri="{53640926-AAD7-44D8-BBD7-CCE9431645EC}">
              <a14:shadowObscured xmlns:a14="http://schemas.microsoft.com/office/drawing/2010/main"/>
            </a:ext>
          </a:extLst>
        </p:spPr>
      </p:pic>
      <p:sp>
        <p:nvSpPr>
          <p:cNvPr id="5" name="Rectangle 4"/>
          <p:cNvSpPr/>
          <p:nvPr/>
        </p:nvSpPr>
        <p:spPr>
          <a:xfrm>
            <a:off x="380105" y="6119305"/>
            <a:ext cx="8320550" cy="646331"/>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 system follows a pipeline architecture where each module contributes to the final prediction.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Insights</a:t>
            </a:r>
          </a:p>
        </p:txBody>
      </p:sp>
      <p:sp>
        <p:nvSpPr>
          <p:cNvPr id="3" name="Content Placeholder 2"/>
          <p:cNvSpPr>
            <a:spLocks noGrp="1"/>
          </p:cNvSpPr>
          <p:nvPr>
            <p:ph idx="1"/>
          </p:nvPr>
        </p:nvSpPr>
        <p:spPr>
          <a:xfrm>
            <a:off x="544945" y="2489200"/>
            <a:ext cx="8118763" cy="3530600"/>
          </a:xfrm>
        </p:spPr>
        <p:txBody>
          <a:bodyPr>
            <a:normAutofit/>
          </a:bodyPr>
          <a:lstStyle/>
          <a:p>
            <a:r>
              <a:rPr lang="en-US" dirty="0">
                <a:latin typeface="Arial" panose="020B0604020202020204" pitchFamily="34" charset="0"/>
                <a:cs typeface="Arial" panose="020B0604020202020204" pitchFamily="34" charset="0"/>
              </a:rPr>
              <a:t>Accurate classification of fake and genuine reviews </a:t>
            </a:r>
          </a:p>
          <a:p>
            <a:r>
              <a:rPr lang="en-US" dirty="0">
                <a:latin typeface="Arial" panose="020B0604020202020204" pitchFamily="34" charset="0"/>
                <a:cs typeface="Arial" panose="020B0604020202020204" pitchFamily="34" charset="0"/>
              </a:rPr>
              <a:t>Detection of patterns such as: </a:t>
            </a:r>
          </a:p>
          <a:p>
            <a:pPr lvl="1">
              <a:buFont typeface="Wingdings" panose="05000000000000000000" pitchFamily="2" charset="2"/>
              <a:buChar char="q"/>
            </a:pPr>
            <a:r>
              <a:rPr lang="en-US" dirty="0">
                <a:latin typeface="Arial" panose="020B0604020202020204" pitchFamily="34" charset="0"/>
                <a:cs typeface="Arial" panose="020B0604020202020204" pitchFamily="34" charset="0"/>
              </a:rPr>
              <a:t>Repetitive and exaggerated language </a:t>
            </a:r>
          </a:p>
          <a:p>
            <a:pPr lvl="1">
              <a:buFont typeface="Wingdings" panose="05000000000000000000" pitchFamily="2" charset="2"/>
              <a:buChar char="q"/>
            </a:pPr>
            <a:r>
              <a:rPr lang="en-US" dirty="0">
                <a:latin typeface="Arial" panose="020B0604020202020204" pitchFamily="34" charset="0"/>
                <a:cs typeface="Arial" panose="020B0604020202020204" pitchFamily="34" charset="0"/>
              </a:rPr>
              <a:t>Extreme sentiment behavior </a:t>
            </a:r>
          </a:p>
          <a:p>
            <a:r>
              <a:rPr lang="en-US" dirty="0">
                <a:latin typeface="Arial" panose="020B0604020202020204" pitchFamily="34" charset="0"/>
                <a:cs typeface="Arial" panose="020B0604020202020204" pitchFamily="34" charset="0"/>
              </a:rPr>
              <a:t>Identification of suspicious users through behavioral analysis </a:t>
            </a:r>
          </a:p>
          <a:p>
            <a:r>
              <a:rPr lang="en-US" dirty="0">
                <a:latin typeface="Arial" panose="020B0604020202020204" pitchFamily="34" charset="0"/>
                <a:cs typeface="Arial" panose="020B0604020202020204" pitchFamily="34" charset="0"/>
              </a:rPr>
              <a:t>Confidence score (Trust Gauge) based on model predictions </a:t>
            </a:r>
          </a:p>
          <a:p>
            <a:r>
              <a:rPr lang="en-US" dirty="0">
                <a:latin typeface="Arial" panose="020B0604020202020204" pitchFamily="34" charset="0"/>
                <a:cs typeface="Arial" panose="020B0604020202020204" pitchFamily="34" charset="0"/>
              </a:rPr>
              <a:t>SHAP explanations highlight important features influencing results </a:t>
            </a:r>
          </a:p>
        </p:txBody>
      </p:sp>
    </p:spTree>
    <p:extLst>
      <p:ext uri="{BB962C8B-B14F-4D97-AF65-F5344CB8AC3E}">
        <p14:creationId xmlns:p14="http://schemas.microsoft.com/office/powerpoint/2010/main" val="2112456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64382" y="2489200"/>
            <a:ext cx="7780854" cy="3530600"/>
          </a:xfrm>
        </p:spPr>
        <p:txBody>
          <a:bodyPr>
            <a:normAutofit/>
          </a:bodyPr>
          <a:lstStyle/>
          <a:p>
            <a:pPr marL="0" indent="0" algn="just">
              <a:buNone/>
            </a:pPr>
            <a:r>
              <a:rPr lang="en-US" dirty="0">
                <a:latin typeface="Arial" panose="020B0604020202020204" pitchFamily="34" charset="0"/>
                <a:cs typeface="Arial" panose="020B0604020202020204" pitchFamily="34" charset="0"/>
              </a:rPr>
              <a:t>The proposed Fake Review Detection System effectively identifies fake and genuine reviews using a combination of NLP, Machine Learning, Deep Learning, and Explainable AI. By integrating textual, sentiment, and behavioral features, the system improves accuracy and reliability. The use of SHAP enhances transparency by explaining model predictions. Overall, the system provides a robust and practical solution for detecting deceptive reviews in real-world applications.</a:t>
            </a:r>
            <a:endParaRPr dirty="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p>
        </p:txBody>
      </p:sp>
      <p:sp>
        <p:nvSpPr>
          <p:cNvPr id="3" name="Content Placeholder 2"/>
          <p:cNvSpPr>
            <a:spLocks noGrp="1"/>
          </p:cNvSpPr>
          <p:nvPr>
            <p:ph idx="1"/>
          </p:nvPr>
        </p:nvSpPr>
        <p:spPr>
          <a:xfrm>
            <a:off x="572655" y="2489200"/>
            <a:ext cx="8100289" cy="3530600"/>
          </a:xfrm>
        </p:spPr>
        <p:txBody>
          <a:bodyPr/>
          <a:lstStyle/>
          <a:p>
            <a:pPr algn="just"/>
            <a:r>
              <a:rPr lang="en-US" dirty="0">
                <a:latin typeface="Arial" panose="020B0604020202020204" pitchFamily="34" charset="0"/>
                <a:cs typeface="Arial" panose="020B0604020202020204" pitchFamily="34" charset="0"/>
              </a:rPr>
              <a:t>Integration with real-time review </a:t>
            </a:r>
            <a:r>
              <a:rPr lang="en-US" dirty="0" smtClean="0">
                <a:latin typeface="Arial" panose="020B0604020202020204" pitchFamily="34" charset="0"/>
                <a:cs typeface="Arial" panose="020B0604020202020204" pitchFamily="34" charset="0"/>
              </a:rPr>
              <a:t>systems</a:t>
            </a:r>
          </a:p>
          <a:p>
            <a:pPr algn="just"/>
            <a:r>
              <a:rPr lang="en-US" altLang="en-US" dirty="0">
                <a:solidFill>
                  <a:schemeClr val="tx1"/>
                </a:solidFill>
                <a:latin typeface="Arial" panose="020B0604020202020204" pitchFamily="34" charset="0"/>
                <a:cs typeface="Arial" panose="020B0604020202020204" pitchFamily="34" charset="0"/>
              </a:rPr>
              <a:t>Use of advanced transformer models like BERT for better accuracy </a:t>
            </a:r>
          </a:p>
          <a:p>
            <a:pPr algn="just"/>
            <a:r>
              <a:rPr lang="en-US" dirty="0">
                <a:latin typeface="Arial" panose="020B0604020202020204" pitchFamily="34" charset="0"/>
                <a:cs typeface="Arial" panose="020B0604020202020204" pitchFamily="34" charset="0"/>
              </a:rPr>
              <a:t>Detection of multilingual fake </a:t>
            </a:r>
            <a:r>
              <a:rPr lang="en-US" dirty="0" smtClean="0">
                <a:latin typeface="Arial" panose="020B0604020202020204" pitchFamily="34" charset="0"/>
                <a:cs typeface="Arial" panose="020B0604020202020204" pitchFamily="34" charset="0"/>
              </a:rPr>
              <a:t>reviews</a:t>
            </a:r>
          </a:p>
          <a:p>
            <a:pPr algn="just"/>
            <a:r>
              <a:rPr lang="en-US" dirty="0">
                <a:latin typeface="Arial" panose="020B0604020202020204" pitchFamily="34" charset="0"/>
                <a:cs typeface="Arial" panose="020B0604020202020204" pitchFamily="34" charset="0"/>
              </a:rPr>
              <a:t>Deployment as a web or mobile </a:t>
            </a:r>
            <a:r>
              <a:rPr lang="en-US" dirty="0" smtClean="0">
                <a:latin typeface="Arial" panose="020B0604020202020204" pitchFamily="34" charset="0"/>
                <a:cs typeface="Arial" panose="020B0604020202020204" pitchFamily="34" charset="0"/>
              </a:rPr>
              <a:t>application</a:t>
            </a:r>
          </a:p>
          <a:p>
            <a:pPr algn="just"/>
            <a:r>
              <a:rPr lang="en-US" dirty="0">
                <a:latin typeface="Arial" panose="020B0604020202020204" pitchFamily="34" charset="0"/>
                <a:cs typeface="Arial" panose="020B0604020202020204" pitchFamily="34" charset="0"/>
              </a:rPr>
              <a:t>Continuous learning with live data</a:t>
            </a:r>
            <a:endParaRPr lang="en-US" dirty="0" smtClean="0">
              <a:latin typeface="Arial" panose="020B0604020202020204" pitchFamily="34" charset="0"/>
              <a:cs typeface="Arial" panose="020B0604020202020204" pitchFamily="34" charset="0"/>
            </a:endParaRPr>
          </a:p>
          <a:p>
            <a:pPr marL="0" lvl="0" indent="0" algn="just" defTabSz="914400" eaLnBrk="0" fontAlgn="base" hangingPunct="0">
              <a:spcBef>
                <a:spcPct val="0"/>
              </a:spcBef>
              <a:spcAft>
                <a:spcPct val="0"/>
              </a:spcAft>
              <a:buClrTx/>
              <a:buSzTx/>
              <a:buNone/>
            </a:pPr>
            <a:endParaRPr lang="en-US" altLang="en-US" dirty="0">
              <a:solidFill>
                <a:schemeClr val="tx1"/>
              </a:solidFill>
              <a:latin typeface="Arial" panose="020B0604020202020204" pitchFamily="34" charset="0"/>
              <a:cs typeface="Arial" panose="020B0604020202020204" pitchFamily="34" charset="0"/>
            </a:endParaRPr>
          </a:p>
          <a:p>
            <a:pPr marL="0" lvl="0" indent="0" algn="just" defTabSz="914400" eaLnBrk="0" fontAlgn="base" hangingPunct="0">
              <a:spcBef>
                <a:spcPct val="0"/>
              </a:spcBef>
              <a:spcAft>
                <a:spcPct val="0"/>
              </a:spcAft>
              <a:buClrTx/>
              <a:buSzTx/>
              <a:buNone/>
            </a:pPr>
            <a:endParaRPr lang="en-US" altLang="en-US" dirty="0">
              <a:solidFill>
                <a:schemeClr val="tx1"/>
              </a:solidFill>
              <a:latin typeface="Arial" panose="020B0604020202020204" pitchFamily="34" charset="0"/>
              <a:cs typeface="Arial" panose="020B0604020202020204" pitchFamily="34" charset="0"/>
            </a:endParaRPr>
          </a:p>
          <a:p>
            <a:pPr marL="0" lvl="0" indent="0" algn="just" defTabSz="914400" eaLnBrk="0" fontAlgn="base" hangingPunct="0">
              <a:spcBef>
                <a:spcPct val="0"/>
              </a:spcBef>
              <a:spcAft>
                <a:spcPct val="0"/>
              </a:spcAft>
              <a:buClrTx/>
              <a:buSzTx/>
              <a:buFontTx/>
              <a:buChar char="•"/>
            </a:pPr>
            <a:endParaRPr lang="en-US" altLang="en-US" dirty="0">
              <a:solidFill>
                <a:schemeClr val="tx1"/>
              </a:solidFill>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5704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508001" y="2309091"/>
            <a:ext cx="8100290" cy="4267200"/>
          </a:xfrm>
        </p:spPr>
        <p:txBody>
          <a:bodyPr>
            <a:normAutofit fontScale="85000" lnSpcReduction="10000"/>
          </a:bodyPr>
          <a:lstStyle/>
          <a:p>
            <a:pPr marL="0" indent="0" algn="just">
              <a:buNone/>
            </a:pPr>
            <a:r>
              <a:rPr lang="en-US" dirty="0">
                <a:latin typeface="Arial" panose="020B0604020202020204" pitchFamily="34" charset="0"/>
                <a:cs typeface="Arial" panose="020B0604020202020204" pitchFamily="34" charset="0"/>
              </a:rPr>
              <a:t>[1] N. Jindal and B. Liu, “Review spam detection,” </a:t>
            </a:r>
            <a:r>
              <a:rPr lang="en-US" i="1" dirty="0">
                <a:latin typeface="Arial" panose="020B0604020202020204" pitchFamily="34" charset="0"/>
                <a:cs typeface="Arial" panose="020B0604020202020204" pitchFamily="34" charset="0"/>
              </a:rPr>
              <a:t>Proc. 16th Int. World Wide Web Conf. (WWW)</a:t>
            </a:r>
            <a:r>
              <a:rPr lang="en-US" dirty="0">
                <a:latin typeface="Arial" panose="020B0604020202020204" pitchFamily="34" charset="0"/>
                <a:cs typeface="Arial" panose="020B0604020202020204" pitchFamily="34" charset="0"/>
              </a:rPr>
              <a:t>, pp. 1189–1190, 2007</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[2] M. </a:t>
            </a:r>
            <a:r>
              <a:rPr lang="en-US" dirty="0" err="1">
                <a:latin typeface="Arial" panose="020B0604020202020204" pitchFamily="34" charset="0"/>
                <a:cs typeface="Arial" panose="020B0604020202020204" pitchFamily="34" charset="0"/>
              </a:rPr>
              <a:t>Ott</a:t>
            </a:r>
            <a:r>
              <a:rPr lang="en-US" dirty="0">
                <a:latin typeface="Arial" panose="020B0604020202020204" pitchFamily="34" charset="0"/>
                <a:cs typeface="Arial" panose="020B0604020202020204" pitchFamily="34" charset="0"/>
              </a:rPr>
              <a:t>, Y. Choi, C. </a:t>
            </a:r>
            <a:r>
              <a:rPr lang="en-US" dirty="0" err="1">
                <a:latin typeface="Arial" panose="020B0604020202020204" pitchFamily="34" charset="0"/>
                <a:cs typeface="Arial" panose="020B0604020202020204" pitchFamily="34" charset="0"/>
              </a:rPr>
              <a:t>Cardie</a:t>
            </a:r>
            <a:r>
              <a:rPr lang="en-US" dirty="0">
                <a:latin typeface="Arial" panose="020B0604020202020204" pitchFamily="34" charset="0"/>
                <a:cs typeface="Arial" panose="020B0604020202020204" pitchFamily="34" charset="0"/>
              </a:rPr>
              <a:t>, and J. Hancock, “Finding deceptive opinion spam by any stretch of the imagination,” </a:t>
            </a:r>
            <a:r>
              <a:rPr lang="en-US" i="1" dirty="0">
                <a:latin typeface="Arial" panose="020B0604020202020204" pitchFamily="34" charset="0"/>
                <a:cs typeface="Arial" panose="020B0604020202020204" pitchFamily="34" charset="0"/>
              </a:rPr>
              <a:t>Proc. 49th Annual Meeting of the ACL</a:t>
            </a:r>
            <a:r>
              <a:rPr lang="en-US" dirty="0">
                <a:latin typeface="Arial" panose="020B0604020202020204" pitchFamily="34" charset="0"/>
                <a:cs typeface="Arial" panose="020B0604020202020204" pitchFamily="34" charset="0"/>
              </a:rPr>
              <a:t>, pp. 309–319, 2011.</a:t>
            </a:r>
          </a:p>
          <a:p>
            <a:pPr marL="0" indent="0" algn="just">
              <a:buNone/>
            </a:pPr>
            <a:r>
              <a:rPr lang="en-US" dirty="0">
                <a:latin typeface="Arial" panose="020B0604020202020204" pitchFamily="34" charset="0"/>
                <a:cs typeface="Arial" panose="020B0604020202020204" pitchFamily="34" charset="0"/>
              </a:rPr>
              <a:t>[3] A. Mukherjee, V. </a:t>
            </a:r>
            <a:r>
              <a:rPr lang="en-US" dirty="0" err="1">
                <a:latin typeface="Arial" panose="020B0604020202020204" pitchFamily="34" charset="0"/>
                <a:cs typeface="Arial" panose="020B0604020202020204" pitchFamily="34" charset="0"/>
              </a:rPr>
              <a:t>Venkataraman</a:t>
            </a:r>
            <a:r>
              <a:rPr lang="en-US" dirty="0">
                <a:latin typeface="Arial" panose="020B0604020202020204" pitchFamily="34" charset="0"/>
                <a:cs typeface="Arial" panose="020B0604020202020204" pitchFamily="34" charset="0"/>
              </a:rPr>
              <a:t>, B. Liu, and N. Glance, “What Yelp fake review filter might be doing,” </a:t>
            </a:r>
            <a:r>
              <a:rPr lang="en-US" i="1" dirty="0">
                <a:latin typeface="Arial" panose="020B0604020202020204" pitchFamily="34" charset="0"/>
                <a:cs typeface="Arial" panose="020B0604020202020204" pitchFamily="34" charset="0"/>
              </a:rPr>
              <a:t>Proc. Int. AAAI Conf. on Web and Social Media (ICWSM)</a:t>
            </a:r>
            <a:r>
              <a:rPr lang="en-US" dirty="0">
                <a:latin typeface="Arial" panose="020B0604020202020204" pitchFamily="34" charset="0"/>
                <a:cs typeface="Arial" panose="020B0604020202020204" pitchFamily="34" charset="0"/>
              </a:rPr>
              <a:t>, pp. 409–418, 2013.</a:t>
            </a:r>
          </a:p>
          <a:p>
            <a:pPr marL="0" indent="0" algn="just">
              <a:buNone/>
            </a:pPr>
            <a:r>
              <a:rPr lang="en-US" dirty="0">
                <a:latin typeface="Arial" panose="020B0604020202020204" pitchFamily="34" charset="0"/>
                <a:cs typeface="Arial" panose="020B0604020202020204" pitchFamily="34" charset="0"/>
              </a:rPr>
              <a:t>[4] Y. Ren and D. Ji, “Neural networks for deceptive opinion spam detection,” </a:t>
            </a:r>
            <a:r>
              <a:rPr lang="en-US" i="1" dirty="0">
                <a:latin typeface="Arial" panose="020B0604020202020204" pitchFamily="34" charset="0"/>
                <a:cs typeface="Arial" panose="020B0604020202020204" pitchFamily="34" charset="0"/>
              </a:rPr>
              <a:t>Information Sciences</a:t>
            </a:r>
            <a:r>
              <a:rPr lang="en-US" dirty="0">
                <a:latin typeface="Arial" panose="020B0604020202020204" pitchFamily="34" charset="0"/>
                <a:cs typeface="Arial" panose="020B0604020202020204" pitchFamily="34" charset="0"/>
              </a:rPr>
              <a:t>, vol. 385–386, pp. 213–224, 2017.</a:t>
            </a:r>
          </a:p>
          <a:p>
            <a:pPr marL="0" indent="0" algn="just">
              <a:buNone/>
            </a:pPr>
            <a:r>
              <a:rPr lang="en-US" dirty="0">
                <a:latin typeface="Arial" panose="020B0604020202020204" pitchFamily="34" charset="0"/>
                <a:cs typeface="Arial" panose="020B0604020202020204" pitchFamily="34" charset="0"/>
              </a:rPr>
              <a:t>[5] J. Devlin, M. Chang, K. Lee, and K. </a:t>
            </a:r>
            <a:r>
              <a:rPr lang="en-US" dirty="0" err="1">
                <a:latin typeface="Arial" panose="020B0604020202020204" pitchFamily="34" charset="0"/>
                <a:cs typeface="Arial" panose="020B0604020202020204" pitchFamily="34" charset="0"/>
              </a:rPr>
              <a:t>Toutanova</a:t>
            </a:r>
            <a:r>
              <a:rPr lang="en-US" dirty="0">
                <a:latin typeface="Arial" panose="020B0604020202020204" pitchFamily="34" charset="0"/>
                <a:cs typeface="Arial" panose="020B0604020202020204" pitchFamily="34" charset="0"/>
              </a:rPr>
              <a:t>, “BERT: Pre-training of deep bidirectional transformers for language understanding,” </a:t>
            </a:r>
            <a:r>
              <a:rPr lang="en-US" i="1" dirty="0">
                <a:latin typeface="Arial" panose="020B0604020202020204" pitchFamily="34" charset="0"/>
                <a:cs typeface="Arial" panose="020B0604020202020204" pitchFamily="34" charset="0"/>
              </a:rPr>
              <a:t>Proc. NAACL-HLT</a:t>
            </a:r>
            <a:r>
              <a:rPr lang="en-US" dirty="0">
                <a:latin typeface="Arial" panose="020B0604020202020204" pitchFamily="34" charset="0"/>
                <a:cs typeface="Arial" panose="020B0604020202020204" pitchFamily="34" charset="0"/>
              </a:rPr>
              <a:t>, pp. 4171–4186, 2019.</a:t>
            </a:r>
          </a:p>
          <a:p>
            <a:pPr marL="0" indent="0" algn="just">
              <a:buNone/>
            </a:pPr>
            <a:r>
              <a:rPr lang="en-US" dirty="0">
                <a:latin typeface="Arial" panose="020B0604020202020204" pitchFamily="34" charset="0"/>
                <a:cs typeface="Arial" panose="020B0604020202020204" pitchFamily="34" charset="0"/>
              </a:rPr>
              <a:t>[6] S. Lundberg and S. Lee, “A unified approach to interpreting model predictions,” </a:t>
            </a:r>
            <a:r>
              <a:rPr lang="en-US" i="1" dirty="0">
                <a:latin typeface="Arial" panose="020B0604020202020204" pitchFamily="34" charset="0"/>
                <a:cs typeface="Arial" panose="020B0604020202020204" pitchFamily="34" charset="0"/>
              </a:rPr>
              <a:t>Advances in Neural Information Processing Systems (</a:t>
            </a:r>
            <a:r>
              <a:rPr lang="en-US" i="1" dirty="0" err="1">
                <a:latin typeface="Arial" panose="020B0604020202020204" pitchFamily="34" charset="0"/>
                <a:cs typeface="Arial" panose="020B0604020202020204" pitchFamily="34" charset="0"/>
              </a:rPr>
              <a:t>NeurIPS</a:t>
            </a:r>
            <a:r>
              <a:rPr lang="en-US" i="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pp. 4765–4774, 2017.</a:t>
            </a:r>
          </a:p>
          <a:p>
            <a:pPr marL="0" indent="0" algn="just">
              <a:buNone/>
            </a:pPr>
            <a:r>
              <a:rPr lang="en-US" dirty="0">
                <a:latin typeface="Arial" panose="020B0604020202020204" pitchFamily="34" charset="0"/>
                <a:cs typeface="Arial" panose="020B0604020202020204" pitchFamily="34" charset="0"/>
              </a:rPr>
              <a:t>[7] F. </a:t>
            </a:r>
            <a:r>
              <a:rPr lang="en-US" dirty="0" err="1">
                <a:latin typeface="Arial" panose="020B0604020202020204" pitchFamily="34" charset="0"/>
                <a:cs typeface="Arial" panose="020B0604020202020204" pitchFamily="34" charset="0"/>
              </a:rPr>
              <a:t>Pedregosa</a:t>
            </a:r>
            <a:r>
              <a:rPr lang="en-US" dirty="0">
                <a:latin typeface="Arial" panose="020B0604020202020204" pitchFamily="34" charset="0"/>
                <a:cs typeface="Arial" panose="020B0604020202020204" pitchFamily="34" charset="0"/>
              </a:rPr>
              <a:t> et al., “Scikit-learn: Machine learning in Python,” </a:t>
            </a:r>
            <a:r>
              <a:rPr lang="en-US" i="1" dirty="0">
                <a:latin typeface="Arial" panose="020B0604020202020204" pitchFamily="34" charset="0"/>
                <a:cs typeface="Arial" panose="020B0604020202020204" pitchFamily="34" charset="0"/>
              </a:rPr>
              <a:t>Journal of Machine Learning Research</a:t>
            </a:r>
            <a:r>
              <a:rPr lang="en-US" dirty="0">
                <a:latin typeface="Arial" panose="020B0604020202020204" pitchFamily="34" charset="0"/>
                <a:cs typeface="Arial" panose="020B0604020202020204" pitchFamily="34" charset="0"/>
              </a:rPr>
              <a:t>, vol. 12, pp. 2825–2830, 2011.</a:t>
            </a:r>
          </a:p>
        </p:txBody>
      </p:sp>
    </p:spTree>
    <p:extLst>
      <p:ext uri="{BB962C8B-B14F-4D97-AF65-F5344CB8AC3E}">
        <p14:creationId xmlns:p14="http://schemas.microsoft.com/office/powerpoint/2010/main" val="37345827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199</TotalTime>
  <Words>1114</Words>
  <Application>Microsoft Office PowerPoint</Application>
  <PresentationFormat>On-screen Show (4:3)</PresentationFormat>
  <Paragraphs>127</Paragraphs>
  <Slides>20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Century Gothic</vt:lpstr>
      <vt:lpstr>Century Gothic (Body)</vt:lpstr>
      <vt:lpstr>Wingdings</vt:lpstr>
      <vt:lpstr>Wingdings 3</vt:lpstr>
      <vt:lpstr>Ion Boardroom</vt:lpstr>
      <vt:lpstr>FakeGuard AI — Fake Review Detection System</vt:lpstr>
      <vt:lpstr>Contents</vt:lpstr>
      <vt:lpstr>Introduction</vt:lpstr>
      <vt:lpstr>Problem Statement</vt:lpstr>
      <vt:lpstr>Objective</vt:lpstr>
      <vt:lpstr>Dataset Overview</vt:lpstr>
      <vt:lpstr>Dataset Attributes</vt:lpstr>
      <vt:lpstr>Features</vt:lpstr>
      <vt:lpstr>Data Preprocessing</vt:lpstr>
      <vt:lpstr>Behavioral Features</vt:lpstr>
      <vt:lpstr>Machine Learning Models</vt:lpstr>
      <vt:lpstr>Deep Learning Model– LSTM</vt:lpstr>
      <vt:lpstr>Explainable AI</vt:lpstr>
      <vt:lpstr>Dataset Challenges</vt:lpstr>
      <vt:lpstr>Model Evaluation</vt:lpstr>
      <vt:lpstr>System Architecture</vt:lpstr>
      <vt:lpstr>Results &amp; Insights</vt:lpstr>
      <vt:lpstr>Conclusion</vt:lpstr>
      <vt:lpstr>Future Scope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Review Detection System</dc:title>
  <dc:subject/>
  <dc:creator/>
  <cp:keywords/>
  <dc:description>generated using python-pptx</dc:description>
  <cp:lastModifiedBy>ACER</cp:lastModifiedBy>
  <cp:revision>10</cp:revision>
  <dcterms:created xsi:type="dcterms:W3CDTF">2013-01-27T09:14:16Z</dcterms:created>
  <dcterms:modified xsi:type="dcterms:W3CDTF">2026-04-01T14:25:31Z</dcterms:modified>
  <cp:category/>
</cp:coreProperties>
</file>